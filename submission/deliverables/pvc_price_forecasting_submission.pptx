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89d078d949c4735" /><Relationship Type="http://schemas.openxmlformats.org/officeDocument/2006/relationships/extended-properties" Target="/docProps/app.xml" Id="Rcdf402a27999421e" /><Relationship Type="http://schemas.openxmlformats.org/officeDocument/2006/relationships/officeDocument" Target="/ppt/presentation.xml" Id="R9d539e44d3fd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0f88297424437"/>
  </p:sldMasterIdLst>
  <p:notesMasterIdLst>
    <p:notesMasterId xmlns:r="http://schemas.openxmlformats.org/officeDocument/2006/relationships" r:id="R7bcf930ff5684489"/>
  </p:notesMasterIdLst>
  <p:sldIdLst>
    <p:sldId xmlns:r="http://schemas.openxmlformats.org/officeDocument/2006/relationships" id="256" r:id="Rbdcad29a9dd74df9"/>
    <p:sldId xmlns:r="http://schemas.openxmlformats.org/officeDocument/2006/relationships" id="257" r:id="Rc29b933e14f64858"/>
    <p:sldId xmlns:r="http://schemas.openxmlformats.org/officeDocument/2006/relationships" id="258" r:id="R6ee646386d02403f"/>
    <p:sldId xmlns:r="http://schemas.openxmlformats.org/officeDocument/2006/relationships" id="259" r:id="Rf5891bf34bc246d7"/>
    <p:sldId xmlns:r="http://schemas.openxmlformats.org/officeDocument/2006/relationships" id="260" r:id="R238f7af072a543c3"/>
    <p:sldId xmlns:r="http://schemas.openxmlformats.org/officeDocument/2006/relationships" id="261" r:id="Rf9a2ab5449754b2d"/>
    <p:sldId xmlns:r="http://schemas.openxmlformats.org/officeDocument/2006/relationships" id="262" r:id="R110e0289ff944bc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14578ce4614709" /><Relationship Type="http://schemas.openxmlformats.org/officeDocument/2006/relationships/slideMaster" Target="/ppt/slideMasters/slideMaster1.xml" Id="R6980f88297424437" /><Relationship Type="http://schemas.openxmlformats.org/officeDocument/2006/relationships/notesMaster" Target="/ppt/notesMasters/notesMaster1.xml" Id="R7bcf930ff5684489" /><Relationship Type="http://schemas.openxmlformats.org/officeDocument/2006/relationships/presProps" Target="/ppt/presProps.xml" Id="R7afdc317bd334ef8" /><Relationship Type="http://schemas.openxmlformats.org/officeDocument/2006/relationships/tableStyles" Target="/ppt/tableStyles.xml" Id="Rc7100e9199a24499" /><Relationship Type="http://schemas.openxmlformats.org/officeDocument/2006/relationships/slide" Target="/ppt/slides/slide1.xml" Id="Rbdcad29a9dd74df9" /><Relationship Type="http://schemas.openxmlformats.org/officeDocument/2006/relationships/slide" Target="/ppt/slides/slide2.xml" Id="Rc29b933e14f64858" /><Relationship Type="http://schemas.openxmlformats.org/officeDocument/2006/relationships/slide" Target="/ppt/slides/slide3.xml" Id="R6ee646386d02403f" /><Relationship Type="http://schemas.openxmlformats.org/officeDocument/2006/relationships/slide" Target="/ppt/slides/slide4.xml" Id="Rf5891bf34bc246d7" /><Relationship Type="http://schemas.openxmlformats.org/officeDocument/2006/relationships/slide" Target="/ppt/slides/slide5.xml" Id="R238f7af072a543c3" /><Relationship Type="http://schemas.openxmlformats.org/officeDocument/2006/relationships/slide" Target="/ppt/slides/slide6.xml" Id="Rf9a2ab5449754b2d" /><Relationship Type="http://schemas.openxmlformats.org/officeDocument/2006/relationships/slide" Target="/ppt/slides/slide7.xml" Id="R110e0289ff944bc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b9577e6f4042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b1869f0c5b400d" /><Relationship Type="http://schemas.openxmlformats.org/officeDocument/2006/relationships/notesMaster" Target="/ppt/notesMasters/notesMaster1.xml" Id="Rdaebc5680327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5cfd4739c6414b" /><Relationship Type="http://schemas.openxmlformats.org/officeDocument/2006/relationships/notesMaster" Target="/ppt/notesMasters/notesMaster1.xml" Id="R34052a1ec71044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eb74ae1be4ca1" /><Relationship Type="http://schemas.openxmlformats.org/officeDocument/2006/relationships/notesMaster" Target="/ppt/notesMasters/notesMaster1.xml" Id="Rd3f3777159d548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fba009f093487d" /><Relationship Type="http://schemas.openxmlformats.org/officeDocument/2006/relationships/notesMaster" Target="/ppt/notesMasters/notesMaster1.xml" Id="R0fd22d4a449942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327e6c152a4542" /><Relationship Type="http://schemas.openxmlformats.org/officeDocument/2006/relationships/notesMaster" Target="/ppt/notesMasters/notesMaster1.xml" Id="R5b41c9f452184f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dad2d67f8e4d5b" /><Relationship Type="http://schemas.openxmlformats.org/officeDocument/2006/relationships/notesMaster" Target="/ppt/notesMasters/notesMaster1.xml" Id="Ra2832fe8eed345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3c01f1f91f4ee9" /><Relationship Type="http://schemas.openxmlformats.org/officeDocument/2006/relationships/notesMaster" Target="/ppt/notesMasters/notesMaster1.xml" Id="Rf763e3c091aa46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[0:00–0:40] Мы прогнозируем цену SG-5 с доставкой, чтобы планировать продажи и закупки. После проверки всей сохранённой истории лучшая подтверждённая модель снижает ошибку с 7,603 до 6,859 процента на одинаковых окнах. Это результат исследования, а не обещание оценки на закрытом тесте. Первоначальную цель 3,5 процента мы не достигли.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MODEL_SELECTION.md; submission/evidence/model_comparison.csv; техническое задание организаторов, п.4–5.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[0:40–1:20] Реальный файл после фильтра содержит 35 696 наблюдений и 154 ряда. Мы восстановили целевой ряд из XLSB: 552 записи дают 551 недельное значение. Пропуски не выдумываем. Все модели сравниваем на 225 одинаковых полных окнах. Обучающие исходы созревают строго до отсечки. Перекрытие окон и многократное исследование истории ограничивают независимость этой оценки.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submission/evidence/dataset_census.json; src/pvc_intelligence/final_pipeline.py; MODEL_SELECTION.md.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[1:20–2:00] Масштаб проверяемый: 66 исследовательских каталогов, 84 файла протоколов и 346 различных имён ценовых прогнозов. Мы не называем это 346 алгоритмами. Общая регистрация не позволяет точно доказать число всех независимых конфигураций и гипотез. В финальной ветви точно проверены 12 комбинаций: четыре набора признаков и три ценовые головы. Каскады прогнозов внешних цен, сезонная складская стратегия и условные кризисные состояния тоже проверялись, но победителя не улучшили.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submission/RESEARCH_CENSUS.md; submission/evidence/experiment_streams.csv; census.json; reports/cascade_v69.md; reports/physical_cascade_v70.md; reports/pooled_state_v72.md.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[2:00–2:40] В одной модели используются совместно 80 столбцов. Производственная логика: сырьё и энергия меняют себестоимость и предложение; строительство и запасы отражают спрос; перевозки меняют цену DAP. У победителя есть спот Китая, базис и кривая фьючерсов, NBS, исходные Brent-ряды и акции двух производителей с рыночным контролем. Это статистические прокси. Отдельные архивы не имеют сертифицированной первой версии публикации; дополнительная задержка корзины на неделю даёт 7,019 процента.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submission/config.json; public_inputs/manifest.json; SunSirs: https://www.100ppi.com/sf/; NBS: https://www.stats.gov.cn/; reports/producer_equity_v67.md; src/pvc_intelligence/features/*.py.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[2:40–3:25] На одинаковых датах Holt не побеждает naive. После исправленного учёта исходных рядов получаем 7,131 процента, а финальная квантильная модель — 6,859. На поздних окнах 6,322 против 7,625 у naive. На первой неделе naive лучше; мы не стали без независимой проверки собирать модель из отдельных победителей по горизонтам. Выбор точки по квантилям ориентирован на sMAPE, но не означает откалиброванный интервал.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submission/evidence/model_comparison.csv; MODEL_SELECTION.md; результаты V68, V70, V72.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[3:25–4:10] Финальный путь снижается с последнего факта 1,0229 до 1,0075 через 13 недель. Это обезличенный индекс. Для стратегии выбираем все нулевые позиции. Торговля по знаку прогноза даёт средний P&amp;L 0,02090 против 0,00226 Buy &amp; Hold, но доверительный интервал разницы включает убыток, а худшая просадка велика. Нулевые позиции сохраняют капитал, но не зарабатывают на росте. Мы показываем этот компромисс открыто.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results/forecast.csv; results/strategy.csv; submission/evidence/strategy_comparison.csv; MODEL_SELECTION.md; формула P&amp;L организаторов.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[4:10–5:00] Продукт — воспроизводимый прогноз для планирования, а не гарантия доходности. Из raw получается тот же прогноз в чистом отдельном окружении, а закрытые данные не попадают в Git. Риск-модуль отдельно показывает вероятность скачка: на до-шоковых окнах 17 верных и 16 ложных предупреждений. Это не доказательство предсказания чёрных лебедей. Дальнейшее подтверждение качества — закрытая проверка организаторов; остаются риски архивных версий источников и многократного выбора на истории.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Доказательства и источники:</a:t>
            </a:r>
          </a:p>
          <a:p xmlns:a="http://schemas.openxmlformats.org/drawingml/2006/main">
            <a:r>
              <a:t>submission/evidence/clean_reproduction.json; pipeline_verification.json; reports/producer_equity_v67.md; MODEL_SELECTION.md.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ef0da551a42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c47651ec544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68a959d4f4c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3e0500448649e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87022f2a1e42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c68f87e22d4c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C73ED0-20A4-4BCB-ABF9-C04F59247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FA589A-5C5E-40EF-ABA3-78CCB37735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E46AB88-0AC5-433A-A3AB-87AFE09C35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7B4682-D5DC-4ED8-A176-2AF33DC5A2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293287E-178B-4EDB-9C51-947301E3E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14542F-18A0-4249-9BCB-52C76B7C15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CD4D61-9BC3-419D-9EB4-35926E80B8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1DB945E-3ED2-439B-A85A-C80D2D67D39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B6F994-DED2-45B0-B8C4-838CF3150B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2FBE88-FF2F-4E62-B132-7B395840F8C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b0b2d5ee0945e1" /><Relationship Type="http://schemas.openxmlformats.org/officeDocument/2006/relationships/slideLayout" Target="/ppt/slideLayouts/slideLayout1.xml" Id="Re4a00fca6fd84614" /><Relationship Type="http://schemas.openxmlformats.org/officeDocument/2006/relationships/slideLayout" Target="/ppt/slideLayouts/slideLayout2.xml" Id="Rc9b29b9992184587" /><Relationship Type="http://schemas.openxmlformats.org/officeDocument/2006/relationships/slideLayout" Target="/ppt/slideLayouts/slideLayout3.xml" Id="R544bc9a2bdab49d5" /><Relationship Type="http://schemas.openxmlformats.org/officeDocument/2006/relationships/slideLayout" Target="/ppt/slideLayouts/slideLayout4.xml" Id="R66d0338df660487a" /><Relationship Type="http://schemas.openxmlformats.org/officeDocument/2006/relationships/slideLayout" Target="/ppt/slideLayouts/slideLayout5.xml" Id="R29cae4e29d19405c" /><Relationship Type="http://schemas.openxmlformats.org/officeDocument/2006/relationships/slideLayout" Target="/ppt/slideLayouts/slideLayout6.xml" Id="R1fa375191ee542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00fca6fd84614"/>
    <p:sldLayoutId xmlns:r="http://schemas.openxmlformats.org/officeDocument/2006/relationships" id="2147483650" r:id="Rc9b29b9992184587"/>
    <p:sldLayoutId xmlns:r="http://schemas.openxmlformats.org/officeDocument/2006/relationships" id="2147483651" r:id="R544bc9a2bdab49d5"/>
    <p:sldLayoutId xmlns:r="http://schemas.openxmlformats.org/officeDocument/2006/relationships" id="2147483652" r:id="R66d0338df660487a"/>
    <p:sldLayoutId xmlns:r="http://schemas.openxmlformats.org/officeDocument/2006/relationships" id="2147483653" r:id="R29cae4e29d19405c"/>
    <p:sldLayoutId xmlns:r="http://schemas.openxmlformats.org/officeDocument/2006/relationships" id="2147483654" r:id="R1fa375191ee542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2ef3f857694bc9" /><Relationship Type="http://schemas.openxmlformats.org/officeDocument/2006/relationships/notesSlide" Target="/ppt/notesSlides/notesSlide1.xml" Id="R80209c129f4343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433549a4b4c27" /><Relationship Type="http://schemas.openxmlformats.org/officeDocument/2006/relationships/notesSlide" Target="/ppt/notesSlides/notesSlide2.xml" Id="R9fcda639086b46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571fe58b9a49dd" /><Relationship Type="http://schemas.openxmlformats.org/officeDocument/2006/relationships/notesSlide" Target="/ppt/notesSlides/notesSlide3.xml" Id="R1bd9c17bb78d48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5de2ad1f94220" /><Relationship Type="http://schemas.openxmlformats.org/officeDocument/2006/relationships/chart" Target="/ppt/slides/charts/chart1.xml" Id="Rdf7253391420414f" /><Relationship Type="http://schemas.openxmlformats.org/officeDocument/2006/relationships/notesSlide" Target="/ppt/notesSlides/notesSlide4.xml" Id="R134214280c2e41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629a86b65e41e3" /><Relationship Type="http://schemas.openxmlformats.org/officeDocument/2006/relationships/chart" Target="/ppt/slides/charts/chart2.xml" Id="Rc2ad11ea5b0e432f" /><Relationship Type="http://schemas.openxmlformats.org/officeDocument/2006/relationships/notesSlide" Target="/ppt/notesSlides/notesSlide5.xml" Id="R14b529c598d248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66aa526dc4662" /><Relationship Type="http://schemas.openxmlformats.org/officeDocument/2006/relationships/chart" Target="/ppt/slides/charts/chart3.xml" Id="R73b6f0da4bc64da4" /><Relationship Type="http://schemas.openxmlformats.org/officeDocument/2006/relationships/notesSlide" Target="/ppt/notesSlides/notesSlide6.xml" Id="R1790e3b0d71b47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0c5a2af8074112" /><Relationship Type="http://schemas.openxmlformats.org/officeDocument/2006/relationships/notesSlide" Target="/ppt/notesSlides/notesSlide7.xml" Id="Rc3aa8e51e2dc4b4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Число столбцов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История SG-5</c:v>
                </c:pt>
                <c:pt idx="1">
                  <c:v>Китайский спот</c:v>
                </c:pt>
                <c:pt idx="2">
                  <c:v>Фьючерсный базис / кривая</c:v>
                </c:pt>
                <c:pt idx="3">
                  <c:v>NBS SG-5</c:v>
                </c:pt>
                <c:pt idx="4">
                  <c:v>Исходные Brent-ряды</c:v>
                </c:pt>
                <c:pt idx="5">
                  <c:v>Акции + широкие индексы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6</c:v>
                </c:pt>
                <c:pt idx="1">
                  <c:v>7</c:v>
                </c:pt>
                <c:pt idx="2">
                  <c:v>6</c:v>
                </c:pt>
                <c:pt idx="3">
                  <c:v>7</c:v>
                </c:pt>
                <c:pt idx="4">
                  <c:v>12</c:v>
                </c:pt>
                <c:pt idx="5">
                  <c:v>42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5715">
              <a:solidFill>
                <a:srgbClr val="CCD7E1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8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8F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sMAPE %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Naive</c:v>
                </c:pt>
                <c:pt idx="1">
                  <c:v>Holt</c:v>
                </c:pt>
                <c:pt idx="2">
                  <c:v>Brent + PVC</c:v>
                </c:pt>
                <c:pt idx="3">
                  <c:v>Final quantile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7.60304277</c:v>
                </c:pt>
                <c:pt idx="1">
                  <c:v>7.62669598</c:v>
                </c:pt>
                <c:pt idx="2">
                  <c:v>7.13103691</c:v>
                </c:pt>
                <c:pt idx="3">
                  <c:v>6.85866584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Noto Sans"/>
                  <a:ea typeface="Noto Sans"/>
                  <a:cs typeface="Noto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9"/>
          <c:min val="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5F8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5F8F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Прогноз k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87F8C"/>
              </a:solidFill>
            </c:spPr>
          </c:marker>
          <c:cat>
            <c:numRef>
              <c:f>'Chart Data'!$A$2:$A$15</c:f>
              <c:numCache>
                <c:formatCode>General</c:formatCode>
                <c:ptCount val="14"/>
                <c:pt idx="0">
                  <c:v>03.07</c:v>
                </c:pt>
                <c:pt idx="1">
                  <c:v>10.07</c:v>
                </c:pt>
                <c:pt idx="2">
                  <c:v>17.07</c:v>
                </c:pt>
                <c:pt idx="3">
                  <c:v>24.07</c:v>
                </c:pt>
                <c:pt idx="4">
                  <c:v>31.07</c:v>
                </c:pt>
                <c:pt idx="5">
                  <c:v>07.08</c:v>
                </c:pt>
                <c:pt idx="6">
                  <c:v>14.08</c:v>
                </c:pt>
                <c:pt idx="7">
                  <c:v>21.08</c:v>
                </c:pt>
                <c:pt idx="8">
                  <c:v>28.08</c:v>
                </c:pt>
                <c:pt idx="9">
                  <c:v>04.09</c:v>
                </c:pt>
                <c:pt idx="10">
                  <c:v>11.09</c:v>
                </c:pt>
                <c:pt idx="11">
                  <c:v>18.09</c:v>
                </c:pt>
                <c:pt idx="12">
                  <c:v>25.09</c:v>
                </c:pt>
                <c:pt idx="13">
                  <c:v>02.10</c:v>
                </c:pt>
              </c:numCache>
            </c:numRef>
          </c:cat>
          <c:val>
            <c:numRef>
              <c:f>'Chart Data'!$B$2:$B$15</c:f>
              <c:numCache>
                <c:formatCode>0.000</c:formatCode>
                <c:ptCount val="14"/>
                <c:pt idx="0">
                  <c:v>1.02290076</c:v>
                </c:pt>
                <c:pt idx="1">
                  <c:v>1.01746751</c:v>
                </c:pt>
                <c:pt idx="2">
                  <c:v>1.01746751</c:v>
                </c:pt>
                <c:pt idx="3">
                  <c:v>1.01640691</c:v>
                </c:pt>
                <c:pt idx="4">
                  <c:v>1.01624368</c:v>
                </c:pt>
                <c:pt idx="5">
                  <c:v>1.0111524</c:v>
                </c:pt>
                <c:pt idx="6">
                  <c:v>1.00948843</c:v>
                </c:pt>
                <c:pt idx="7">
                  <c:v>1.00844115</c:v>
                </c:pt>
                <c:pt idx="8">
                  <c:v>1.00749995</c:v>
                </c:pt>
                <c:pt idx="9">
                  <c:v>1.00749995</c:v>
                </c:pt>
                <c:pt idx="10">
                  <c:v>1.00749995</c:v>
                </c:pt>
                <c:pt idx="11">
                  <c:v>1.00749995</c:v>
                </c:pt>
                <c:pt idx="12">
                  <c:v>1.00749995</c:v>
                </c:pt>
                <c:pt idx="13">
                  <c:v>1.00749995</c:v>
                </c:pt>
              </c:numCache>
            </c:numRef>
          </c:val>
          <c:smooth val="0"/>
        </c:ser>
        <c:ser>
          <c:idx val="1"/>
          <c:order val="1"/>
          <c:tx>
            <c:v>Последний факт</c:v>
          </c:tx>
          <c:spPr>
            <a:ln xmlns:a="http://schemas.openxmlformats.org/drawingml/2006/main" w="14288">
              <a:solidFill>
                <a:srgbClr val="CCD7E1"/>
              </a:solidFill>
            </a:ln>
          </c:spPr>
          <c:marker>
            <c:symbol val="none"/>
          </c:marker>
          <c:cat>
            <c:numRef>
              <c:f>'Chart Data'!$C$2:$C$15</c:f>
              <c:numCache>
                <c:formatCode>General</c:formatCode>
                <c:ptCount val="14"/>
                <c:pt idx="0">
                  <c:v>03.07</c:v>
                </c:pt>
                <c:pt idx="1">
                  <c:v>10.07</c:v>
                </c:pt>
                <c:pt idx="2">
                  <c:v>17.07</c:v>
                </c:pt>
                <c:pt idx="3">
                  <c:v>24.07</c:v>
                </c:pt>
                <c:pt idx="4">
                  <c:v>31.07</c:v>
                </c:pt>
                <c:pt idx="5">
                  <c:v>07.08</c:v>
                </c:pt>
                <c:pt idx="6">
                  <c:v>14.08</c:v>
                </c:pt>
                <c:pt idx="7">
                  <c:v>21.08</c:v>
                </c:pt>
                <c:pt idx="8">
                  <c:v>28.08</c:v>
                </c:pt>
                <c:pt idx="9">
                  <c:v>04.09</c:v>
                </c:pt>
                <c:pt idx="10">
                  <c:v>11.09</c:v>
                </c:pt>
                <c:pt idx="11">
                  <c:v>18.09</c:v>
                </c:pt>
                <c:pt idx="12">
                  <c:v>25.09</c:v>
                </c:pt>
                <c:pt idx="13">
                  <c:v>02.10</c:v>
                </c:pt>
              </c:numCache>
            </c:numRef>
          </c:cat>
          <c:val>
            <c:numRef>
              <c:f>'Chart Data'!$D$2:$D$15</c:f>
              <c:numCache>
                <c:formatCode>0.000</c:formatCode>
                <c:ptCount val="14"/>
                <c:pt idx="0">
                  <c:v>1.02290076</c:v>
                </c:pt>
                <c:pt idx="1">
                  <c:v>1.02290076</c:v>
                </c:pt>
                <c:pt idx="2">
                  <c:v>1.02290076</c:v>
                </c:pt>
                <c:pt idx="3">
                  <c:v>1.02290076</c:v>
                </c:pt>
                <c:pt idx="4">
                  <c:v>1.02290076</c:v>
                </c:pt>
                <c:pt idx="5">
                  <c:v>1.02290076</c:v>
                </c:pt>
                <c:pt idx="6">
                  <c:v>1.02290076</c:v>
                </c:pt>
                <c:pt idx="7">
                  <c:v>1.02290076</c:v>
                </c:pt>
                <c:pt idx="8">
                  <c:v>1.02290076</c:v>
                </c:pt>
                <c:pt idx="9">
                  <c:v>1.02290076</c:v>
                </c:pt>
                <c:pt idx="10">
                  <c:v>1.02290076</c:v>
                </c:pt>
                <c:pt idx="11">
                  <c:v>1.02290076</c:v>
                </c:pt>
                <c:pt idx="12">
                  <c:v>1.02290076</c:v>
                </c:pt>
                <c:pt idx="13">
                  <c:v>1.02290076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"/>
                  <a:ea typeface="Noto Sans"/>
                  <a:cs typeface="Noto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72768"/>
      </c:catAx>
      <c:valAx>
        <c:axId val="48672768"/>
        <c:scaling>
          <c:orientation val="minMax"/>
          <c:max val="1.026"/>
          <c:min val="1.004"/>
        </c:scaling>
        <c:delete val="0"/>
        <c:axPos val="l"/>
        <c:majorGridlines>
          <c:spPr>
            <a:ln xmlns:a="http://schemas.openxmlformats.org/drawingml/2006/main" w="4763">
              <a:solidFill>
                <a:srgbClr val="CCD7E1"/>
              </a:solidFill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Noto Sans"/>
                <a:ea typeface="Noto Sans"/>
                <a:cs typeface="Noto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5F8FB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Noto Sans"/>
              <a:ea typeface="Noto Sans"/>
              <a:cs typeface="Noto Sans"/>
            </a:defRPr>
          </a:pPr>
        </a:p>
      </c:txPr>
    </c:legend>
    <c:plotVisOnly val="1"/>
  </c:chart>
  <c:spPr>
    <a:solidFill xmlns:a="http://schemas.openxmlformats.org/drawingml/2006/main">
      <a:srgbClr val="F5F8FB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C29059-947C-4C39-96D8-80AECB4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ЗАДАЧА БИЗНЕСА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1A9B0-5F4E-46B9-89AF-686E521F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Планировать продажи и закупки</a:t>
            </a:r>
          </a:p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на 13 недель вперёд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04D1D-0010-41BD-A060-0165204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356E2-4408-4331-810F-A56440FF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1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9296D-05CE-48CB-82FE-AF967E89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38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Прогнозируем полную цену поставки</a:t>
            </a:r>
          </a:p>
          <a:p xmlns:a="http://schemas.openxmlformats.org/drawingml/2006/main">
            <a:pPr>
              <a:def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SG-5 из Китая на DAP Достык.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08DA1-3F91-4C8E-B28E-99D3CFE3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Модель помогает оценить направление рынка</a:t>
            </a:r>
          </a:p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и отказаться от необоснованной ставки на склад.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3EE46-69E5-4072-91B4-51E6552B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714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51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6,859%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726AC3-51F2-4E79-A36E-C1E8D753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sMAPE на истории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98FAA-F936-437B-8084-8D7F9B9C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010025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7,603% у naive</a:t>
            </a:r>
          </a:p>
          <a:p xmlns:a="http://schemas.openxmlformats.org/drawingml/2006/main">
            <a:pPr>
              <a:def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Преимущество 0,744 п.п.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06D45-552A-4186-AAA6-555F5A7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Закрытый holdout неизвестен. Цель 3,5% пока не достигнута.</a:t>
            </a:r>
          </a:p>
        </p:txBody>
      </p:sp>
    </p:spTree>
    <p:extLst>
      <p:ext uri="{BB962C8B-B14F-4D97-AF65-F5344CB8AC3E}">
        <p14:creationId xmlns:p14="http://schemas.microsoft.com/office/powerpoint/2010/main" val="12823519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4BC419-C9E1-4159-B8A1-DA5F14F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ДАННЫЕ И ЧЕСТНЫЙ ПРОТОКОЛ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4B30A-7BCC-4C05-AF6D-C01E44D5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Одинаковые даты для всех моделей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2AE4B-D488-445E-9E17-EA22EB6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012D2-8AF9-444C-A61F-42ECCCED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2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35D93-5283-4076-A5E6-85F1B696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35 696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F46B9-E1C1-4566-80CC-9B85F93B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наблюдений до отсечки</a:t>
            </a:r>
          </a:p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154 временных ряда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42F04-6A9F-43A1-8E38-A900B48A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225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F6E85-D726-45A3-B65A-01A0DE99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575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полных 13-недельных путей</a:t>
            </a:r>
          </a:p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2 925 сравнимых точек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52EB3-7074-464C-B30F-BFB3BEE5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7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3FAFF8-7BB3-4BE6-AE5B-7AB5C2CD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575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внутренних пропусков target</a:t>
            </a:r>
          </a:p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сохранены без заполнения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8C9B9-FD48-4E02-BB78-3EAB7F3B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2011–2026: 29 меток стран и регионов. Target: 552 записи → 551 неделя.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BD804-EBA6-4143-8138-7BF542CC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Обучение: исходы строго раньше отсечки. Финальная отсечка: 03.07.2026.</a:t>
            </a:r>
          </a:p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Окна перекрываются; история многократно использовалась в поиске.</a:t>
            </a:r>
          </a:p>
        </p:txBody>
      </p:sp>
    </p:spTree>
    <p:extLst>
      <p:ext uri="{BB962C8B-B14F-4D97-AF65-F5344CB8AC3E}">
        <p14:creationId xmlns:p14="http://schemas.microsoft.com/office/powerpoint/2010/main" val="724419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B9B26-2549-4E89-A4C1-8EA2CEBF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МАСШТАБ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B64C1-7C5B-4813-B4B5-26FAB72B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Проверяли направления, а не одну гипотезу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EDA95-CCA8-446F-BFB1-761491F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9DC2F-9616-4904-B0DD-0915B6A3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3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45FE7-0D07-475E-A8FE-78CF85AB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285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79E93-9C47-41CA-92DC-4FE56927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каталогов направлений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7B908-C672-412F-9A6A-5D48E95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9775"/>
            <a:ext cx="285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E7D7B-07A0-4EAE-A098-346BAF7C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файла протоколов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61407-1C08-4F35-822E-45F6162D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285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5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346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D76E8-34E1-4062-939E-9CB99DF9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имён ценовых прогнозов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DEE345-B4BA-496F-8522-8745275B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Сырьё и энергия · спрос и строительство · запасы и ремонты</a:t>
            </a:r>
          </a:p>
          <a:p xmlns:a="http://schemas.openxmlformats.org/drawingml/2006/main">
            <a:pPr>
              <a:def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Китайские рынки · логистика · политика · деривативы · акции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34B09-5A11-4219-B21F-5F5411A2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В финальной ветви: 4 набора признаков × 3 головы = 12 конфигураций.</a:t>
            </a:r>
          </a:p>
          <a:p xmlns:a="http://schemas.openxmlformats.org/drawingml/2006/main">
            <a:pPr>
              <a:def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Всего найдено 1 088 CSV; 331 имя имеет общую когорту.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50E8F-F733-445A-BFD5-AC9F81D1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Имена, файлы и обучения на окнах не равны независимым алгоритмам.</a:t>
            </a:r>
          </a:p>
        </p:txBody>
      </p:sp>
    </p:spTree>
    <p:extLst>
      <p:ext uri="{BB962C8B-B14F-4D97-AF65-F5344CB8AC3E}">
        <p14:creationId xmlns:p14="http://schemas.microsoft.com/office/powerpoint/2010/main" val="63825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6A788-8BB1-44CE-A98D-F2FF6A8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ФАКТОРЫ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6F11C-72AF-4E6B-8148-5AC9056D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80 признаков работают совместно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53F159-3C3D-404F-B783-7ED8C4B6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E9F96-011A-4436-B347-04038B18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4 / 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9641F4C-9BE8-4350-BECE-3658688DAB96}"/>
              </a:ext>
            </a:extLst>
          </p:cNvPr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6762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f7253391420414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F9F4-3E29-4B60-9122-A1E42555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47662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Себестоимость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↓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Предложение и спрос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↓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Логистика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↓</a:t>
            </a:r>
          </a:p>
          <a:p xmlns:a="http://schemas.openxmlformats.org/drawingml/2006/main">
            <a:pPr>
              <a:def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Цена DAP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EFA2A-92A9-4715-9293-79123FB07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Это 80 столбцов, а не 80 источников. Абляции проверяют содержание</a:t>
            </a:r>
          </a:p>
          <a:p xmlns:a="http://schemas.openxmlformats.org/drawingml/2006/main">
            <a:pPr>
              <a:def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и задержку данных; причинный механизм не доказывается корреляцией.</a:t>
            </a:r>
          </a:p>
        </p:txBody>
      </p:sp>
    </p:spTree>
    <p:extLst>
      <p:ext uri="{BB962C8B-B14F-4D97-AF65-F5344CB8AC3E}">
        <p14:creationId xmlns:p14="http://schemas.microsoft.com/office/powerpoint/2010/main" val="901867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FC916-CCD9-4CFF-9FAE-795A1696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ВЫБОР РЕШЕНИЯ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CFDD8-E988-4B49-8722-DC74CBBE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Лучший полный путь — квантильный CatBoost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AB53E-2344-4C8E-9C7A-87C8EFD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DE14E-807B-49E8-BB45-8C08DE02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5 / 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F1F0DF3-488E-41C1-9024-B0F2E161379B}"/>
              </a:ext>
            </a:extLst>
          </p:cNvPr>
          <p:cNvGraphicFramePr/>
          <p:nvPr/>
        </p:nvGraphicFramePr>
        <p:xfrm>
          <a:off xmlns:a="http://schemas.openxmlformats.org/drawingml/2006/main" x="619125" y="2000250"/>
          <a:ext xmlns:a="http://schemas.openxmlformats.org/drawingml/2006/main" cx="7143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ad11ea5b0e432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BA232-8EF9-43D2-92E7-EFB729CE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38375"/>
            <a:ext cx="3095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h1   2,292%</a:t>
            </a:r>
          </a:p>
          <a:p xmlns:a="http://schemas.openxmlformats.org/drawingml/2006/main">
            <a: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h4   4,921%</a:t>
            </a:r>
          </a:p>
          <a:p xmlns:a="http://schemas.openxmlformats.org/drawingml/2006/main">
            <a:pPr>
              <a:def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h13  10,495%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ED37A-AC24-4706-8A76-75E92477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3048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2025+</a:t>
            </a:r>
          </a:p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6,322% против</a:t>
            </a:r>
          </a:p>
          <a:p xmlns:a="http://schemas.openxmlformats.org/drawingml/2006/main">
            <a:pPr>
              <a:def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7,625% у naive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07754-52DC-443E-A134-B5A17062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225 одинаковых путей. На h1 naive лучше. Другие каскады</a:t>
            </a:r>
          </a:p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и условные состояния не улучшили основной критерий.</a:t>
            </a:r>
          </a:p>
        </p:txBody>
      </p:sp>
    </p:spTree>
    <p:extLst>
      <p:ext uri="{BB962C8B-B14F-4D97-AF65-F5344CB8AC3E}">
        <p14:creationId xmlns:p14="http://schemas.microsoft.com/office/powerpoint/2010/main" val="669223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D9C4B-83F4-4559-A682-A6459119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ПРОГНОЗ И СТРАТЕГИЯ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3C22B-6F87-40CA-AD0F-592027BA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Умеренное снижение — без ставки на склад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4C183-A18C-4A99-9A89-3074E1E4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D2E50-F4F8-4C95-9AA1-D7562C3E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6 / 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2893D6F-F095-416A-9037-2B8F3F4EF078}"/>
              </a:ext>
            </a:extLst>
          </p:cNvPr>
          <p:cNvGraphicFramePr/>
          <p:nvPr/>
        </p:nvGraphicFramePr>
        <p:xfrm>
          <a:off xmlns:a="http://schemas.openxmlformats.org/drawingml/2006/main" x="571500" y="20002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b6f0da4bc64da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A4634-2E15-4105-A8B8-C2A0084A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955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13 × 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966CA-EFA7-4F5A-AE87-A70179CF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670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позиций вне рынка</a:t>
            </a:r>
          </a:p>
          <a:p xmlns:a="http://schemas.openxmlformats.org/drawingml/2006/main">
            <a:pPr>
              <a:def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P&amp;L = 0 · просадка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7C22E-AE75-4BFC-8F55-65F1CA0E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96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h1  1,0175</a:t>
            </a:r>
          </a:p>
          <a:p xmlns:a="http://schemas.openxmlformats.org/drawingml/2006/main">
            <a: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h4  1,0162</a:t>
            </a:r>
          </a:p>
          <a:p xmlns:a="http://schemas.openxmlformats.org/drawingml/2006/main">
            <a:pPr>
              <a:def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h13 1,0075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0B6CE-AD73-469C-AD7E-CAA0B67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Отсечка 03.07.2026. Значения — индекс k, не USD/т.</a:t>
            </a:r>
          </a:p>
          <a:p xmlns:a="http://schemas.openxmlformats.org/drawingml/2006/main">
            <a:pPr>
              <a:def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65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У ForecastSign среднее преимущество есть, статистическая устойчивость не доказана.</a:t>
            </a:r>
          </a:p>
        </p:txBody>
      </p:sp>
    </p:spTree>
    <p:extLst>
      <p:ext uri="{BB962C8B-B14F-4D97-AF65-F5344CB8AC3E}">
        <p14:creationId xmlns:p14="http://schemas.microsoft.com/office/powerpoint/2010/main" val="1255406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58F97-BA54-435B-BC45-6E4CD57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ПОЛЬЗА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DCAC6-858B-4149-8B6F-7472A13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Воспроизводимое решение</a:t>
            </a:r>
          </a:p>
          <a:p xmlns:a="http://schemas.openxmlformats.org/drawingml/2006/main">
            <a:pPr>
              <a:def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с честной оценкой риска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9CAD4-80C8-4D61-BD57-108B18BF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PVC Intelligence · SG-5 DAP Достык · 29.10.2026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2B413-A6CE-458D-B3D9-62907CEF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defPPr>
            <a:lvl1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1pPr>
            <a:lvl2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2pPr>
            <a:lvl3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3pPr>
            <a:lvl4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4pPr>
            <a:lvl5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5pPr>
            <a:lvl6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6pPr>
            <a:lvl7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7pPr>
            <a:lvl8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8pPr>
            <a:lvl9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defRPr>
            </a:pPr>
            <a:r>
              <a:rPr sz="1200" b="0">
                <a:solidFill>
                  <a:srgbClr val="526173"/>
                </a:solidFill>
                <a:latin typeface="Noto Sans"/>
                <a:ea typeface="Noto Sans"/>
                <a:cs typeface="Noto Sans"/>
              </a:rPr>
              <a:t>7 /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AF1A7-F6CC-4BBC-97C3-8D8A04BE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Для бизнеса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43E3B-CD2A-45DD-8557-5BACE9F5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Обновлять план продаж и закупок.</a:t>
            </a:r>
          </a:p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Не наращивать спекулятивный склад.</a:t>
            </a:r>
          </a:p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Проверять физическое подтверждение</a:t>
            </a:r>
          </a:p>
          <a:p xmlns:a="http://schemas.openxmlformats.org/drawingml/2006/main">
            <a:pPr>
              <a:def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сигналов о ремонтах и логистике.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DDFB1-0C45-4D48-8FF1-220991AE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defPPr>
            <a:lvl1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1pPr>
            <a:lvl2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2pPr>
            <a:lvl3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3pPr>
            <a:lvl4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4pPr>
            <a:lvl5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5pPr>
            <a:lvl6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6pPr>
            <a:lvl7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7pPr>
            <a:lvl8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8pPr>
            <a:lvl9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87F8C"/>
                </a:solidFill>
                <a:latin typeface="Noto Sans"/>
                <a:ea typeface="Noto Sans"/>
                <a:cs typeface="Noto Sans"/>
              </a:rPr>
              <a:t>Что подтверждено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64DD4-6276-457A-86A9-592CE460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485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defPPr>
            <a:lvl1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1pPr>
            <a:lvl2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2pPr>
            <a:lvl3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3pPr>
            <a:lvl4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4pPr>
            <a:lvl5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5pPr>
            <a:lvl6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6pPr>
            <a:lvl7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7pPr>
            <a:lvl8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8pPr>
            <a:lvl9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Raw → признаки → обучение → CSV.</a:t>
            </a:r>
          </a:p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Чистое отдельное окружение.</a:t>
            </a:r>
          </a:p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Точное совпадение 13 прогнозов.</a:t>
            </a:r>
          </a:p>
          <a:p xmlns:a="http://schemas.openxmlformats.org/drawingml/2006/main">
            <a:pPr>
              <a:def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72D44"/>
                </a:solidFill>
                <a:latin typeface="Noto Sans"/>
                <a:ea typeface="Noto Sans"/>
                <a:cs typeface="Noto Sans"/>
              </a:rPr>
              <a:t>Закрытые данные исключены из Git.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C82F9-292C-4D7D-8F98-8063660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53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defPPr>
            <a:lvl1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1pPr>
            <a:lvl2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2pPr>
            <a:lvl3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3pPr>
            <a:lvl4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4pPr>
            <a:lvl5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5pPr>
            <a:lvl6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6pPr>
            <a:lvl7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7pPr>
            <a:lvl8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8pPr>
            <a:lvl9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R67: 17 верных / 16 ложных предупреждений до наблюдаемого шока.</a:t>
            </a:r>
          </a:p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Не гарантия предсказания «лебедя». Архивные версии и повторный поиск</a:t>
            </a:r>
          </a:p>
          <a:p xmlns:a="http://schemas.openxmlformats.org/drawingml/2006/main">
            <a:pPr>
              <a:def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BD6741"/>
                </a:solidFill>
                <a:latin typeface="Noto Sans"/>
                <a:ea typeface="Noto Sans"/>
                <a:cs typeface="Noto Sans"/>
              </a:rPr>
              <a:t>ограничивают доказательность; скрытая оценка ещё впереди.</a:t>
            </a:r>
          </a:p>
        </p:txBody>
      </p:sp>
    </p:spTree>
    <p:extLst>
      <p:ext uri="{BB962C8B-B14F-4D97-AF65-F5344CB8AC3E}">
        <p14:creationId xmlns:p14="http://schemas.microsoft.com/office/powerpoint/2010/main" val="1816457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2026-10-29T17:00:01.0350000Z</dcterms:created>
  <dcterms:modified xsi:type="dcterms:W3CDTF">2026-10-29T17:00:01.0350000Z</dcterms:modified>
</coreProperties>
</file>